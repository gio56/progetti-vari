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9" r:id="rId11"/>
    <p:sldId id="328" r:id="rId12"/>
    <p:sldId id="258" r:id="rId13"/>
    <p:sldId id="308" r:id="rId14"/>
    <p:sldId id="305" r:id="rId15"/>
    <p:sldId id="309" r:id="rId16"/>
    <p:sldId id="303" r:id="rId17"/>
    <p:sldId id="307" r:id="rId18"/>
    <p:sldId id="271" r:id="rId19"/>
    <p:sldId id="300" r:id="rId20"/>
    <p:sldId id="294" r:id="rId21"/>
    <p:sldId id="299" r:id="rId22"/>
    <p:sldId id="295" r:id="rId23"/>
    <p:sldId id="301" r:id="rId24"/>
    <p:sldId id="298" r:id="rId25"/>
    <p:sldId id="297" r:id="rId26"/>
    <p:sldId id="296" r:id="rId27"/>
    <p:sldId id="272" r:id="rId28"/>
    <p:sldId id="280" r:id="rId29"/>
    <p:sldId id="292" r:id="rId30"/>
    <p:sldId id="293" r:id="rId31"/>
    <p:sldId id="313" r:id="rId32"/>
    <p:sldId id="314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15" r:id="rId42"/>
    <p:sldId id="316" r:id="rId43"/>
    <p:sldId id="310" r:id="rId44"/>
    <p:sldId id="286" r:id="rId4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89E952D7-1670-4902-94C5-623A78918BFB}">
          <p14:sldIdLst>
            <p14:sldId id="257"/>
            <p14:sldId id="259"/>
            <p14:sldId id="260"/>
            <p14:sldId id="261"/>
            <p14:sldId id="262"/>
            <p14:sldId id="263"/>
            <p14:sldId id="265"/>
            <p14:sldId id="266"/>
            <p14:sldId id="267"/>
            <p14:sldId id="269"/>
            <p14:sldId id="328"/>
            <p14:sldId id="258"/>
            <p14:sldId id="308"/>
            <p14:sldId id="305"/>
            <p14:sldId id="309"/>
            <p14:sldId id="303"/>
            <p14:sldId id="307"/>
            <p14:sldId id="271"/>
            <p14:sldId id="300"/>
            <p14:sldId id="294"/>
            <p14:sldId id="299"/>
            <p14:sldId id="295"/>
            <p14:sldId id="301"/>
            <p14:sldId id="298"/>
            <p14:sldId id="297"/>
            <p14:sldId id="296"/>
            <p14:sldId id="272"/>
            <p14:sldId id="280"/>
            <p14:sldId id="292"/>
            <p14:sldId id="293"/>
            <p14:sldId id="313"/>
            <p14:sldId id="314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15"/>
            <p14:sldId id="316"/>
            <p14:sldId id="310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EBEB"/>
    <a:srgbClr val="F5F5F5"/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-24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BBE9C-EE37-4342-9798-32F484CFA2AA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AFF42-60E9-4520-BB4E-142F28E004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043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D21DEE-85B9-3D47-3951-9DC4A5F98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FCC86F2-A7C3-28AA-4B3D-D04247435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6701B9-286D-B4A3-C470-1254BEA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BF4D1AF-4FE0-4187-7953-1BE15591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6DA90A-3111-A9E0-11C1-B2DD5BB6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44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9C7BA3-5842-D0F5-354C-737A2F55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74748A-A656-6754-314F-F4FDA3EA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A7DA5B-6032-AB49-4ABD-C95C6831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C1AE4C-601B-CAA2-81A3-AC4D69D4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B9B6F6-6175-F67D-7D28-423410CA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47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451B62-7521-9BEA-FBA4-92B94DEF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062C053-84CC-555B-6CB7-2ABD28898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7AE01F-35A6-AEC1-7A9F-B613E4A8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9F2CB3-8E55-9B6B-1ADE-9D09DE97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F962D8-A576-1C3E-5BC5-5250B69C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337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2F64E-397A-C9FB-BA73-51A48932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0DD262-C2F9-DED4-7EDC-6B3992EF5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24369B-949F-CB4B-6866-3FD6CB071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BB0591-35EA-A060-BB0F-F36846BF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9EAD78-A6F0-D28D-86D9-816F399B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5BF9A6-38C4-934D-8249-18E53327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44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77232-5EA1-7DDF-DF97-CC2CE2CF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10B9B2-7FA3-F702-66F2-93A3FB6D9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C76928-9A07-1F04-2BDC-49B3DC8F7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550D82C-72E8-519A-76F4-B681CA0FC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052E1DA-A878-9FFE-58C0-8FB7F55AF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8FD69B8-FEBF-3F18-3C05-14A08CC6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DDA895E-1066-F9CB-4102-05CCB4CB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13B4200-E898-7C43-16AF-C696612D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14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106036-7719-425E-C51A-954E694A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DB1DBF8-037C-A8AA-CFF2-C61B19ED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80831EA-0DFD-B95D-9C89-4AE4D03F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50178A8-8BC9-C4FB-10A4-7930D68B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937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1EE7E-0F8A-1668-2F74-524060E7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5802287-5ED5-462B-958E-5E4121C7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23F9A2-6302-CCE5-C058-EEBB97B8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11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CFFF0-A378-E2B8-C7F4-400DC62C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AE73A3-1FF9-3E93-A778-E0529845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3E9266-1AE1-9249-B198-3B3EF0E5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2090F8-903A-2759-87BF-4C510D4E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1EDC7-80D2-039C-ACEE-1CD66EFF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808B87F-4274-65B9-512F-8392A83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556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EB075-E5D2-F391-2AED-C7B0DA68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55D7AD9-DAA9-CC8A-B58C-0A09E5E26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5047C9-7EE6-4EDC-62E5-C9A929E4C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18C64F6-9FC9-F059-DA87-687AE738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7FE37C-1CD4-0219-CAB1-D0B563B0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1D0EF8B-C092-62F0-FA49-E60310DF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7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1CF349-086B-EE4A-9AF8-AA72954DC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2F3CA8-B622-4ABD-A1C8-8D465CB3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18B61E-99D8-0586-B10A-3B11CAF5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B72BEF-AFE2-5C03-3E8E-2556C1D8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323A0B-D325-C1AB-E77B-892AD8DC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617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46AC83A-ECEA-1EF7-59B1-2812A2A6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9946FE3-4003-31FB-5C6E-37CE05E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846986-93D4-2639-E237-A53D3191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CEFB41-1995-0B71-1C13-9773FAC2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CBF580-C19D-8685-0DD2-7DD1904D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39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E8BBA0F-7AB4-CD0B-1D4E-61AAFF0B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168E3B-7886-00B8-F144-E689AEE16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910CBD-9913-DD90-3395-160410CC9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B9592-0F78-4DAE-9EB7-5391517D2E25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1A9836-EAB1-CF13-5DEA-48F5D3364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CBACFC-4FF3-D556-F4D8-5F5988E2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2BCE8-64B4-4F48-8CC7-2BD7FD325C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7415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16E5FA-DAEB-952B-6398-152A49EE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Database Pokemon</a:t>
            </a:r>
          </a:p>
        </p:txBody>
      </p:sp>
    </p:spTree>
    <p:extLst>
      <p:ext uri="{BB962C8B-B14F-4D97-AF65-F5344CB8AC3E}">
        <p14:creationId xmlns:p14="http://schemas.microsoft.com/office/powerpoint/2010/main" val="247787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629F9D05-4967-6FEC-DECF-5701273DFE2E}"/>
              </a:ext>
            </a:extLst>
          </p:cNvPr>
          <p:cNvSpPr txBox="1">
            <a:spLocks/>
          </p:cNvSpPr>
          <p:nvPr/>
        </p:nvSpPr>
        <p:spPr>
          <a:xfrm>
            <a:off x="1179136" y="1820928"/>
            <a:ext cx="10515600" cy="321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Numero di Pokemon per ogni generazione</a:t>
            </a:r>
          </a:p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Numero di Pokemon per tipo</a:t>
            </a:r>
          </a:p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Distribuzione dei Pokemon per tipo in ogni Generazione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I Tipi più diffusi per ogni Generazione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err="1"/>
              <a:t>Pokedex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vs Forza: i Pokémon a fine </a:t>
            </a:r>
            <a:r>
              <a:rPr lang="it-IT" dirty="0" err="1"/>
              <a:t>Pokédex</a:t>
            </a:r>
            <a:r>
              <a:rPr lang="it-IT" dirty="0"/>
              <a:t> sono </a:t>
            </a:r>
            <a:r>
              <a:rPr lang="it-IT" u="sng" dirty="0"/>
              <a:t>più</a:t>
            </a:r>
            <a:r>
              <a:rPr lang="it-IT" dirty="0"/>
              <a:t> potenti?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Mediamente qual è il tipo più forte?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Infine: qual è il </a:t>
            </a:r>
            <a:r>
              <a:rPr lang="it-IT" dirty="0" err="1"/>
              <a:t>pokemon</a:t>
            </a:r>
            <a:r>
              <a:rPr lang="it-IT" dirty="0"/>
              <a:t> più forte? Ed il più debole?</a:t>
            </a:r>
          </a:p>
        </p:txBody>
      </p:sp>
    </p:spTree>
    <p:extLst>
      <p:ext uri="{BB962C8B-B14F-4D97-AF65-F5344CB8AC3E}">
        <p14:creationId xmlns:p14="http://schemas.microsoft.com/office/powerpoint/2010/main" val="78766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FA89EF2-E171-9515-CDF5-202C95A2D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197" y="864525"/>
            <a:ext cx="9031606" cy="51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292CC86-C816-55B6-34B2-825A8AB68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293" y="568827"/>
            <a:ext cx="9219414" cy="572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CFCF93B-3DB9-4E67-F0C2-61CBD83A6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7" y="400184"/>
            <a:ext cx="10582927" cy="605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0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32F9D9-210F-958C-D244-85CB185BA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27" y="0"/>
            <a:ext cx="9644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2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99758F22-10DA-8E13-CAF5-E0B532E8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94" y="379428"/>
            <a:ext cx="10855812" cy="609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1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F1466F-A69E-B188-9F90-D63A84F9E2E2}"/>
              </a:ext>
            </a:extLst>
          </p:cNvPr>
          <p:cNvSpPr txBox="1"/>
          <p:nvPr/>
        </p:nvSpPr>
        <p:spPr>
          <a:xfrm>
            <a:off x="1100972" y="156056"/>
            <a:ext cx="999005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it-IT" sz="3100" dirty="0" err="1"/>
              <a:t>Pokedex</a:t>
            </a:r>
            <a:r>
              <a:rPr lang="it-IT" sz="3100" dirty="0"/>
              <a:t> </a:t>
            </a:r>
            <a:r>
              <a:rPr lang="it-IT" sz="3100" dirty="0" err="1"/>
              <a:t>Number</a:t>
            </a:r>
            <a:r>
              <a:rPr lang="it-IT" sz="3100" dirty="0"/>
              <a:t> vs Forza: i Pokémon a fine </a:t>
            </a:r>
            <a:r>
              <a:rPr lang="it-IT" sz="3100" dirty="0" err="1"/>
              <a:t>Pokédex</a:t>
            </a:r>
            <a:r>
              <a:rPr lang="it-IT" sz="3100" dirty="0"/>
              <a:t> sono più potenti?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2257114-CD59-0F5A-0FE0-21414587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62" y="1288700"/>
            <a:ext cx="9464511" cy="48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59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E18BDED-632F-FC7A-6968-47D6D078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8" y="980255"/>
            <a:ext cx="11560404" cy="545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7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7AE4E93-587D-A7A7-EF0D-B2A71C59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288" y="321825"/>
            <a:ext cx="6885424" cy="638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7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A86B-BBD7-55DE-3B6C-458C88F4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AEC336A-179A-EBD5-2F96-91FE7220C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60620"/>
              </p:ext>
            </p:extLst>
          </p:nvPr>
        </p:nvGraphicFramePr>
        <p:xfrm>
          <a:off x="1477710" y="1550244"/>
          <a:ext cx="9236582" cy="5106722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522251">
                  <a:extLst>
                    <a:ext uri="{9D8B030D-6E8A-4147-A177-3AD203B41FA5}">
                      <a16:colId xmlns:a16="http://schemas.microsoft.com/office/drawing/2014/main" val="2695592153"/>
                    </a:ext>
                  </a:extLst>
                </a:gridCol>
                <a:gridCol w="2517680">
                  <a:extLst>
                    <a:ext uri="{9D8B030D-6E8A-4147-A177-3AD203B41FA5}">
                      <a16:colId xmlns:a16="http://schemas.microsoft.com/office/drawing/2014/main" val="3593303948"/>
                    </a:ext>
                  </a:extLst>
                </a:gridCol>
                <a:gridCol w="1522251">
                  <a:extLst>
                    <a:ext uri="{9D8B030D-6E8A-4147-A177-3AD203B41FA5}">
                      <a16:colId xmlns:a16="http://schemas.microsoft.com/office/drawing/2014/main" val="4257805591"/>
                    </a:ext>
                  </a:extLst>
                </a:gridCol>
                <a:gridCol w="1522251">
                  <a:extLst>
                    <a:ext uri="{9D8B030D-6E8A-4147-A177-3AD203B41FA5}">
                      <a16:colId xmlns:a16="http://schemas.microsoft.com/office/drawing/2014/main" val="697853078"/>
                    </a:ext>
                  </a:extLst>
                </a:gridCol>
                <a:gridCol w="2152149">
                  <a:extLst>
                    <a:ext uri="{9D8B030D-6E8A-4147-A177-3AD203B41FA5}">
                      <a16:colId xmlns:a16="http://schemas.microsoft.com/office/drawing/2014/main" val="603982109"/>
                    </a:ext>
                  </a:extLst>
                </a:gridCol>
              </a:tblGrid>
              <a:tr h="575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1" dirty="0">
                          <a:solidFill>
                            <a:sysClr val="windowText" lastClr="000000"/>
                          </a:solidFill>
                          <a:effectLst/>
                        </a:rPr>
                        <a:t>Classifica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1" dirty="0">
                          <a:solidFill>
                            <a:sysClr val="windowText" lastClr="000000"/>
                          </a:solidFill>
                          <a:effectLst/>
                        </a:rPr>
                        <a:t>Pokemon più Forte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Stats</a:t>
                      </a:r>
                      <a:endParaRPr lang="it-IT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1" dirty="0">
                          <a:solidFill>
                            <a:sysClr val="windowText" lastClr="000000"/>
                          </a:solidFill>
                          <a:effectLst/>
                        </a:rPr>
                        <a:t>Pokémon Più Debole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 err="1">
                          <a:solidFill>
                            <a:sysClr val="windowText" lastClr="000000"/>
                          </a:solidFill>
                        </a:rPr>
                        <a:t>Stats</a:t>
                      </a:r>
                      <a:endParaRPr lang="it-IT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982242"/>
                  </a:ext>
                </a:extLst>
              </a:tr>
              <a:tr h="8184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Mewtwo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Sunkern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50214"/>
                  </a:ext>
                </a:extLst>
              </a:tr>
              <a:tr h="8184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Rayquaza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Azurill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190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302530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Arceus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720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Kricketot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194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628279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Zygarde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708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Caterpie</a:t>
                      </a:r>
                      <a:r>
                        <a:rPr lang="it-IT" dirty="0">
                          <a:effectLst/>
                        </a:rPr>
                        <a:t>, </a:t>
                      </a:r>
                      <a:r>
                        <a:rPr lang="it-IT" dirty="0" err="1">
                          <a:effectLst/>
                        </a:rPr>
                        <a:t>Weedle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195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843057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Kyurem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Scatterbug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200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596709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6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Tyranitar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Cosmog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200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331240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Solgaleo</a:t>
                      </a:r>
                      <a:r>
                        <a:rPr lang="it-IT" dirty="0">
                          <a:effectLst/>
                        </a:rPr>
                        <a:t>, </a:t>
                      </a:r>
                      <a:r>
                        <a:rPr lang="it-IT" dirty="0" err="1">
                          <a:effectLst/>
                        </a:rPr>
                        <a:t>Lunala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680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Patrat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255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294388"/>
                  </a:ext>
                </a:extLst>
              </a:tr>
              <a:tr h="4501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Mondiale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Mewtwo</a:t>
                      </a:r>
                      <a:r>
                        <a:rPr lang="it-IT" dirty="0">
                          <a:effectLst/>
                        </a:rPr>
                        <a:t>, </a:t>
                      </a:r>
                      <a:r>
                        <a:rPr lang="it-IT" dirty="0" err="1">
                          <a:effectLst/>
                        </a:rPr>
                        <a:t>Rayquaza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780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 err="1">
                          <a:effectLst/>
                        </a:rPr>
                        <a:t>Sunkern</a:t>
                      </a:r>
                      <a:endParaRPr lang="it-IT" dirty="0">
                        <a:effectLst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180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57281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6A49AAEE-3D79-AD30-7DAB-E1787EC6DF58}"/>
              </a:ext>
            </a:extLst>
          </p:cNvPr>
          <p:cNvSpPr txBox="1"/>
          <p:nvPr/>
        </p:nvSpPr>
        <p:spPr>
          <a:xfrm>
            <a:off x="1477711" y="103694"/>
            <a:ext cx="92365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it-IT" sz="4400" dirty="0"/>
              <a:t>Infine: qual è il Pokemon più forte? Ed il più debole?</a:t>
            </a:r>
          </a:p>
        </p:txBody>
      </p:sp>
    </p:spTree>
    <p:extLst>
      <p:ext uri="{BB962C8B-B14F-4D97-AF65-F5344CB8AC3E}">
        <p14:creationId xmlns:p14="http://schemas.microsoft.com/office/powerpoint/2010/main" val="4269207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15A54C-3E9C-9136-68C6-8ADB3D91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2628"/>
            <a:ext cx="10515600" cy="1832744"/>
          </a:xfrm>
        </p:spPr>
        <p:txBody>
          <a:bodyPr/>
          <a:lstStyle/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Identificazione dei Pokémon con maggior Altezza, Peso e Densità</a:t>
            </a:r>
          </a:p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Top 10 variazione peso durante l’evoluzione</a:t>
            </a:r>
          </a:p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La felicità base influenza il tasso di cattura?</a:t>
            </a:r>
          </a:p>
          <a:p>
            <a:pPr marL="914400" lvl="1" indent="-457200" fontAlgn="t">
              <a:buFont typeface="+mj-lt"/>
              <a:buAutoNum type="arabicPeriod"/>
            </a:pPr>
            <a:r>
              <a:rPr lang="it-IT" dirty="0"/>
              <a:t>Distribuzione dei Pokemon leggendari per fascia di felicità</a:t>
            </a:r>
          </a:p>
        </p:txBody>
      </p:sp>
      <p:sp>
        <p:nvSpPr>
          <p:cNvPr id="5" name="AutoShape 2" descr="Immagine">
            <a:extLst>
              <a:ext uri="{FF2B5EF4-FFF2-40B4-BE49-F238E27FC236}">
                <a16:creationId xmlns:a16="http://schemas.microsoft.com/office/drawing/2014/main" id="{80D1BAED-D184-C9CD-AB9F-4A0CAE8D60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068" y="32956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4745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C84C518-A7B4-FEFF-99FC-E479840AF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" y="1166962"/>
            <a:ext cx="12192000" cy="452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5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FED389-14F1-7709-469F-7D35CD5E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9F62B5-2A6E-A2FC-7FE9-0EC003F16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17044F5A-D536-7A43-69FF-924E9B487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40" y="0"/>
            <a:ext cx="10278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08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647C1C9-1E0B-D64C-446B-34F2A5DD5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06" y="165354"/>
            <a:ext cx="9823988" cy="652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41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6997E83-17A2-9FF7-87E1-E32A29D10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38" y="0"/>
            <a:ext cx="10321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4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E4AB9DD6-9963-7155-42D1-523D9C0E9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9" y="213040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171308C-83B2-9BDA-1CBE-859389C49D41}"/>
              </a:ext>
            </a:extLst>
          </p:cNvPr>
          <p:cNvSpPr txBox="1"/>
          <p:nvPr/>
        </p:nvSpPr>
        <p:spPr>
          <a:xfrm>
            <a:off x="1817409" y="2480279"/>
            <a:ext cx="8721757" cy="1897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 fontAlgn="t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914400" lvl="1" indent="-457200">
              <a:buFont typeface="+mj-lt"/>
              <a:buAutoNum type="arabicPeriod"/>
            </a:pPr>
            <a:r>
              <a:rPr lang="it-IT" sz="2600" dirty="0"/>
              <a:t>Distribuzione Pokemon leggendari per tipo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600" dirty="0"/>
              <a:t>Distribuzione Pokemon in relazione alla velocità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600" dirty="0"/>
              <a:t>Distribuzione del peso dei Pokémon per ogni tipo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2600" dirty="0"/>
              <a:t>Correlazione tra tasso di cattura e statistiche base</a:t>
            </a:r>
          </a:p>
        </p:txBody>
      </p:sp>
    </p:spTree>
    <p:extLst>
      <p:ext uri="{BB962C8B-B14F-4D97-AF65-F5344CB8AC3E}">
        <p14:creationId xmlns:p14="http://schemas.microsoft.com/office/powerpoint/2010/main" val="2316608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8CC13D14-C688-6F2E-2012-512BB6D7B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64" y="923539"/>
            <a:ext cx="11356871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29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>
            <a:extLst>
              <a:ext uri="{FF2B5EF4-FFF2-40B4-BE49-F238E27FC236}">
                <a16:creationId xmlns:a16="http://schemas.microsoft.com/office/drawing/2014/main" id="{32768A46-8442-4E63-2597-7C6FD533D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286" y="420618"/>
            <a:ext cx="6172212" cy="601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53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6C4D481-EE85-3DB8-9ADF-A1B34260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01" y="717798"/>
            <a:ext cx="11237998" cy="54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19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E7678B6-C4FF-7E09-395A-016D66D3E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71" y="778480"/>
            <a:ext cx="10671222" cy="53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34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1603F676-86C9-2D24-2CE3-B108EF0D2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76" y="873133"/>
            <a:ext cx="10386449" cy="511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61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1A9524C-70FB-EDF7-657B-D6B539023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18" y="670456"/>
            <a:ext cx="11517964" cy="551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8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6749D37-BBCC-BC94-8C88-A1766EC62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620"/>
            <a:ext cx="12192000" cy="482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49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FC04836-165D-B6E1-4372-DCF2D1E45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569" y="720936"/>
            <a:ext cx="6950863" cy="54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97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F780A8-02B7-11BA-674F-7A90FD39357A}"/>
              </a:ext>
            </a:extLst>
          </p:cNvPr>
          <p:cNvSpPr txBox="1"/>
          <p:nvPr/>
        </p:nvSpPr>
        <p:spPr>
          <a:xfrm>
            <a:off x="1313861" y="2782669"/>
            <a:ext cx="956427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fontAlgn="t">
              <a:buFont typeface="+mj-lt"/>
              <a:buAutoNum type="arabicPeriod"/>
            </a:pPr>
            <a:r>
              <a:rPr lang="it-IT" sz="2600" dirty="0"/>
              <a:t>Distribuzione delle statistiche per tipo e analisi degli </a:t>
            </a:r>
            <a:r>
              <a:rPr lang="it-IT" sz="2600" dirty="0" err="1"/>
              <a:t>outlier</a:t>
            </a:r>
            <a:endParaRPr lang="it-IT" sz="2600" dirty="0"/>
          </a:p>
          <a:p>
            <a:pPr marL="800100" lvl="1" indent="-342900" fontAlgn="t">
              <a:buFont typeface="+mj-lt"/>
              <a:buAutoNum type="arabicPeriod"/>
            </a:pPr>
            <a:r>
              <a:rPr lang="it-IT" sz="2600" dirty="0"/>
              <a:t>Correlazione tra le varie statistiche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it-IT" sz="2600" dirty="0"/>
              <a:t>Specializzazione: analisi della deviazione standard delle </a:t>
            </a:r>
            <a:r>
              <a:rPr lang="it-IT" sz="2600" dirty="0" err="1"/>
              <a:t>stats</a:t>
            </a:r>
            <a:endParaRPr lang="it-IT" sz="2600" dirty="0"/>
          </a:p>
        </p:txBody>
      </p:sp>
    </p:spTree>
    <p:extLst>
      <p:ext uri="{BB962C8B-B14F-4D97-AF65-F5344CB8AC3E}">
        <p14:creationId xmlns:p14="http://schemas.microsoft.com/office/powerpoint/2010/main" val="318962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0A140BC-482E-C03A-B904-578E0C91B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44" y="710545"/>
            <a:ext cx="7249212" cy="543690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4A252A9-DAA3-A008-B92A-633D37C8BFB1}"/>
              </a:ext>
            </a:extLst>
          </p:cNvPr>
          <p:cNvSpPr txBox="1"/>
          <p:nvPr/>
        </p:nvSpPr>
        <p:spPr>
          <a:xfrm>
            <a:off x="366355" y="346445"/>
            <a:ext cx="572964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it-IT" dirty="0"/>
              <a:t>Distribuzione delle statistiche per tipo e analisi degli </a:t>
            </a:r>
            <a:r>
              <a:rPr lang="it-IT" dirty="0" err="1"/>
              <a:t>outlier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1509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040C248-BB9B-7208-6B69-FD1E17136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5" y="986176"/>
            <a:ext cx="8702676" cy="4140768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64C774F-6D8C-9921-A543-A5DE5A4AFF75}"/>
              </a:ext>
            </a:extLst>
          </p:cNvPr>
          <p:cNvSpPr txBox="1"/>
          <p:nvPr/>
        </p:nvSpPr>
        <p:spPr>
          <a:xfrm>
            <a:off x="8865328" y="31946"/>
            <a:ext cx="2657561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1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26843CD-64A9-244E-1FDA-CD8A33097054}"/>
              </a:ext>
            </a:extLst>
          </p:cNvPr>
          <p:cNvSpPr/>
          <p:nvPr/>
        </p:nvSpPr>
        <p:spPr>
          <a:xfrm>
            <a:off x="1078431" y="207390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100" dirty="0"/>
              <a:t>Relazione Stas Totali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8BBE6902-BF7D-B9D7-3560-91186EF5A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12" y="578249"/>
            <a:ext cx="3506993" cy="529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75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91C49-5681-9360-5851-FA116D0031B4}"/>
              </a:ext>
            </a:extLst>
          </p:cNvPr>
          <p:cNvSpPr txBox="1"/>
          <p:nvPr/>
        </p:nvSpPr>
        <p:spPr>
          <a:xfrm>
            <a:off x="1993887" y="266963"/>
            <a:ext cx="282804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forti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587718-FF29-FA78-AFC5-6D34EDF711A1}"/>
              </a:ext>
            </a:extLst>
          </p:cNvPr>
          <p:cNvSpPr txBox="1"/>
          <p:nvPr/>
        </p:nvSpPr>
        <p:spPr>
          <a:xfrm>
            <a:off x="7013612" y="266963"/>
            <a:ext cx="33577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deboli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7BB99FC-C86C-1B5C-F49C-22E7FFB2E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639" y="692858"/>
            <a:ext cx="3175662" cy="577393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FF318A3-465A-BDB8-E880-1321D4B8F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829" y="699052"/>
            <a:ext cx="3192158" cy="58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69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EE6C-D3D1-7CFA-A0EC-429422AC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3F5908-3617-352F-DC6B-C21BA00411AD}"/>
              </a:ext>
            </a:extLst>
          </p:cNvPr>
          <p:cNvSpPr txBox="1"/>
          <p:nvPr/>
        </p:nvSpPr>
        <p:spPr>
          <a:xfrm>
            <a:off x="8455771" y="252993"/>
            <a:ext cx="265756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8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0133ED9-DFCD-91A4-ACE6-B118F07529C9}"/>
              </a:ext>
            </a:extLst>
          </p:cNvPr>
          <p:cNvSpPr/>
          <p:nvPr/>
        </p:nvSpPr>
        <p:spPr>
          <a:xfrm>
            <a:off x="1372247" y="405354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dirty="0"/>
              <a:t>Relazione Stas HP</a:t>
            </a:r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D6DB7892-CF2C-FEF1-1BF6-57A11ECC1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71" y="1134820"/>
            <a:ext cx="8231824" cy="4115912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26F08196-2973-2158-DC9A-EC7948E56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003" y="948934"/>
            <a:ext cx="2481096" cy="513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15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685B-FDB1-A8C7-5F94-53A2C65F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2BB3B9-A82B-0A18-C9FB-0511179FD521}"/>
              </a:ext>
            </a:extLst>
          </p:cNvPr>
          <p:cNvSpPr txBox="1"/>
          <p:nvPr/>
        </p:nvSpPr>
        <p:spPr>
          <a:xfrm>
            <a:off x="2192238" y="266963"/>
            <a:ext cx="31834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forti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54F6F3-7B72-060B-22B9-0B71807BB399}"/>
              </a:ext>
            </a:extLst>
          </p:cNvPr>
          <p:cNvSpPr txBox="1"/>
          <p:nvPr/>
        </p:nvSpPr>
        <p:spPr>
          <a:xfrm>
            <a:off x="7094487" y="266963"/>
            <a:ext cx="37796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deboli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12D462A-E961-1D1B-0AB0-3DF37BC9A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569" y="725861"/>
            <a:ext cx="2695500" cy="17854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1F31DE2-C4F8-FCFC-08E6-3D447CC0C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199" y="725861"/>
            <a:ext cx="2799506" cy="606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19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8E12-79D4-20CF-54C4-C3348C7B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DF0E252-C9C8-DAE3-19D8-598987C1F0E5}"/>
              </a:ext>
            </a:extLst>
          </p:cNvPr>
          <p:cNvSpPr txBox="1"/>
          <p:nvPr/>
        </p:nvSpPr>
        <p:spPr>
          <a:xfrm>
            <a:off x="8748502" y="347262"/>
            <a:ext cx="265756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28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4FE06E0-795F-E1CD-B92D-2F43F9D606A3}"/>
              </a:ext>
            </a:extLst>
          </p:cNvPr>
          <p:cNvSpPr/>
          <p:nvPr/>
        </p:nvSpPr>
        <p:spPr>
          <a:xfrm>
            <a:off x="921635" y="476897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dirty="0"/>
              <a:t>Attacco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A941C42-DBCC-9DED-05F4-49135C72C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805" y="898763"/>
            <a:ext cx="3110962" cy="5539239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1B6A8A2-F1DE-E6BD-460C-268CE18C0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78" y="1358992"/>
            <a:ext cx="7783478" cy="38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22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E6C7-545E-C3A5-178B-37B6FAFC5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3641003-DEFB-DD8E-4422-565D6E3F3A13}"/>
              </a:ext>
            </a:extLst>
          </p:cNvPr>
          <p:cNvSpPr txBox="1"/>
          <p:nvPr/>
        </p:nvSpPr>
        <p:spPr>
          <a:xfrm>
            <a:off x="2322507" y="222552"/>
            <a:ext cx="2622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Forti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A98444-1268-F283-DBF1-B403CF5100FE}"/>
              </a:ext>
            </a:extLst>
          </p:cNvPr>
          <p:cNvSpPr txBox="1"/>
          <p:nvPr/>
        </p:nvSpPr>
        <p:spPr>
          <a:xfrm>
            <a:off x="7091745" y="222552"/>
            <a:ext cx="31646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Deboli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53742AD-F672-2EBD-8C54-95C9D307C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164" y="705008"/>
            <a:ext cx="2757781" cy="169645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774A9DA-A240-5278-A1A0-203602F63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81" y="705008"/>
            <a:ext cx="2933276" cy="58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92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53D8-3473-19EE-52B3-B1E5D6BB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3D1A040-57D0-0549-BF4C-EE9F3E502156}"/>
              </a:ext>
            </a:extLst>
          </p:cNvPr>
          <p:cNvSpPr txBox="1"/>
          <p:nvPr/>
        </p:nvSpPr>
        <p:spPr>
          <a:xfrm>
            <a:off x="8528541" y="224715"/>
            <a:ext cx="265756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28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0CEC44F-DDDB-68D9-3B88-6B8C483A2B41}"/>
              </a:ext>
            </a:extLst>
          </p:cNvPr>
          <p:cNvSpPr/>
          <p:nvPr/>
        </p:nvSpPr>
        <p:spPr>
          <a:xfrm>
            <a:off x="790364" y="377076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dirty="0"/>
              <a:t>Difesa</a:t>
            </a:r>
          </a:p>
        </p:txBody>
      </p:sp>
      <p:pic>
        <p:nvPicPr>
          <p:cNvPr id="2" name="Segnaposto contenuto 4">
            <a:extLst>
              <a:ext uri="{FF2B5EF4-FFF2-40B4-BE49-F238E27FC236}">
                <a16:creationId xmlns:a16="http://schemas.microsoft.com/office/drawing/2014/main" id="{EFB47EA6-5CDC-1186-AFD1-04BEE3E3E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6" y="1273446"/>
            <a:ext cx="8105400" cy="40527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DF2EDE0-1A65-3AF7-C0E0-38F883A03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502" y="935309"/>
            <a:ext cx="3745638" cy="532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15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6E47-96F0-B99C-6535-8CF57A45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799AFF-E7EB-C4E2-5BA1-5FA72D5CD5B9}"/>
              </a:ext>
            </a:extLst>
          </p:cNvPr>
          <p:cNvSpPr txBox="1"/>
          <p:nvPr/>
        </p:nvSpPr>
        <p:spPr>
          <a:xfrm>
            <a:off x="1866646" y="495608"/>
            <a:ext cx="3172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Resistenza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20A0A7-4419-DE36-EE18-8F53D803B0CD}"/>
              </a:ext>
            </a:extLst>
          </p:cNvPr>
          <p:cNvSpPr txBox="1"/>
          <p:nvPr/>
        </p:nvSpPr>
        <p:spPr>
          <a:xfrm>
            <a:off x="7146852" y="495608"/>
            <a:ext cx="3602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meno Resistenti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AB04BFF-7333-3F28-1603-F3E01EC00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49" y="1121324"/>
            <a:ext cx="3026701" cy="555695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B388BDA-2BF5-95F4-1E08-A1C902947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901" y="1121324"/>
            <a:ext cx="2746450" cy="162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30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5AAC-3097-6DDE-B6EE-23EC3E17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B7D8243-9E84-1405-A818-7A638E675300}"/>
              </a:ext>
            </a:extLst>
          </p:cNvPr>
          <p:cNvSpPr txBox="1"/>
          <p:nvPr/>
        </p:nvSpPr>
        <p:spPr>
          <a:xfrm>
            <a:off x="8469284" y="361021"/>
            <a:ext cx="265756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28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9D241FE-01C2-3D30-35C2-255051FD1D73}"/>
              </a:ext>
            </a:extLst>
          </p:cNvPr>
          <p:cNvSpPr/>
          <p:nvPr/>
        </p:nvSpPr>
        <p:spPr>
          <a:xfrm>
            <a:off x="356027" y="490656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dirty="0"/>
              <a:t>Attacco Speciale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FB70B07-7CC7-874E-A570-98AEEF86E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69" y="1335430"/>
            <a:ext cx="7514899" cy="375745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C21A28C-5062-BCA7-5F22-8DB3C26B7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498" y="862173"/>
            <a:ext cx="3525133" cy="535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2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CA60-1A15-2A5A-9853-BEFDBC21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8A519A-6DDF-725E-A3A8-84C5394C1ABA}"/>
              </a:ext>
            </a:extLst>
          </p:cNvPr>
          <p:cNvSpPr txBox="1"/>
          <p:nvPr/>
        </p:nvSpPr>
        <p:spPr>
          <a:xfrm>
            <a:off x="2180477" y="224234"/>
            <a:ext cx="2622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Forti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E293D6-F25F-FA1A-ACC8-1B7382B74E38}"/>
              </a:ext>
            </a:extLst>
          </p:cNvPr>
          <p:cNvSpPr txBox="1"/>
          <p:nvPr/>
        </p:nvSpPr>
        <p:spPr>
          <a:xfrm>
            <a:off x="7142726" y="224234"/>
            <a:ext cx="297729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Deboli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F1CEF04-B42F-7042-0DB5-31C019E5B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26" y="657549"/>
            <a:ext cx="3158326" cy="604914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9C82640-46BB-E572-081A-D4B534B50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178" y="753975"/>
            <a:ext cx="3296395" cy="17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94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850C-C11A-EF32-825E-3B81F32D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75024BA-373E-F30D-18F1-85532874A057}"/>
              </a:ext>
            </a:extLst>
          </p:cNvPr>
          <p:cNvSpPr txBox="1"/>
          <p:nvPr/>
        </p:nvSpPr>
        <p:spPr>
          <a:xfrm>
            <a:off x="8469284" y="366217"/>
            <a:ext cx="2657561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31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87CFD68-E1C9-DBA5-8BC6-B6BFF8964B95}"/>
              </a:ext>
            </a:extLst>
          </p:cNvPr>
          <p:cNvSpPr/>
          <p:nvPr/>
        </p:nvSpPr>
        <p:spPr>
          <a:xfrm>
            <a:off x="450179" y="518935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100" dirty="0"/>
              <a:t>Difesa Speciale</a:t>
            </a:r>
          </a:p>
        </p:txBody>
      </p:sp>
      <p:pic>
        <p:nvPicPr>
          <p:cNvPr id="2" name="Segnaposto contenuto 4">
            <a:extLst>
              <a:ext uri="{FF2B5EF4-FFF2-40B4-BE49-F238E27FC236}">
                <a16:creationId xmlns:a16="http://schemas.microsoft.com/office/drawing/2014/main" id="{D0D58A6D-F0B7-8942-04D0-3A1D5D84C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300"/>
            <a:ext cx="7640522" cy="382026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C19AF04-BC06-39E1-14B2-671A872B3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611" y="1099068"/>
            <a:ext cx="3420906" cy="48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30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3BF85-0A65-F454-F844-8AF267B7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222786E-CFC2-2050-43F8-B1E631B2AB8C}"/>
              </a:ext>
            </a:extLst>
          </p:cNvPr>
          <p:cNvSpPr txBox="1"/>
          <p:nvPr/>
        </p:nvSpPr>
        <p:spPr>
          <a:xfrm>
            <a:off x="2175206" y="195953"/>
            <a:ext cx="28625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Resistenti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B4454C-6FC0-56DC-BB7F-07B3CAC36134}"/>
              </a:ext>
            </a:extLst>
          </p:cNvPr>
          <p:cNvSpPr txBox="1"/>
          <p:nvPr/>
        </p:nvSpPr>
        <p:spPr>
          <a:xfrm>
            <a:off x="6987405" y="195953"/>
            <a:ext cx="32501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meno Resistenti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FEC30C3-B0C5-7976-9E75-FD690E56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528" y="631274"/>
            <a:ext cx="3071919" cy="167484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8A9DE5F-4D86-09FC-BAF9-8452CC574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21" y="631274"/>
            <a:ext cx="3398719" cy="57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31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F6248-61A1-C5A8-7F54-6AB135FC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6E160CF-58B5-E49C-223D-F7E40A82D0AE}"/>
              </a:ext>
            </a:extLst>
          </p:cNvPr>
          <p:cNvSpPr txBox="1"/>
          <p:nvPr/>
        </p:nvSpPr>
        <p:spPr>
          <a:xfrm>
            <a:off x="8765761" y="205858"/>
            <a:ext cx="265756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2800" dirty="0"/>
              <a:t>Classifica Tipo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F7931F0-302F-E584-A8FF-424FF9CF85AD}"/>
              </a:ext>
            </a:extLst>
          </p:cNvPr>
          <p:cNvSpPr/>
          <p:nvPr/>
        </p:nvSpPr>
        <p:spPr>
          <a:xfrm>
            <a:off x="1019868" y="465128"/>
            <a:ext cx="674016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3200" dirty="0"/>
              <a:t>Velocità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EBB4351-577A-E7A8-1F11-CFF7D7418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004" y="832773"/>
            <a:ext cx="2973074" cy="5331602"/>
          </a:xfrm>
          <a:prstGeom prst="rect">
            <a:avLst/>
          </a:prstGeom>
        </p:spPr>
      </p:pic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37EC2D57-474F-F126-501C-C6CBFCCB3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79" y="1013948"/>
            <a:ext cx="7845289" cy="392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42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A815-BFB9-5554-CA32-F833236B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4A290FF-3369-BC48-5B61-D141ECCABB89}"/>
              </a:ext>
            </a:extLst>
          </p:cNvPr>
          <p:cNvSpPr txBox="1"/>
          <p:nvPr/>
        </p:nvSpPr>
        <p:spPr>
          <a:xfrm>
            <a:off x="2161414" y="156563"/>
            <a:ext cx="2622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Veloci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63E23F-58B4-47A9-B022-C1AEBD4FAFFE}"/>
              </a:ext>
            </a:extLst>
          </p:cNvPr>
          <p:cNvSpPr txBox="1"/>
          <p:nvPr/>
        </p:nvSpPr>
        <p:spPr>
          <a:xfrm>
            <a:off x="7491256" y="156563"/>
            <a:ext cx="22608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100" dirty="0"/>
              <a:t>Pokemon più lenti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3001FDB-AF4E-EA80-51D0-05D051DF5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53" y="564753"/>
            <a:ext cx="3353268" cy="203863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DA4FF85-CC64-6116-CA39-B1C2A31A4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678" y="564753"/>
            <a:ext cx="3157697" cy="617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250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7BBC94C1-99F6-05FB-9451-C3E1A4629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57" y="801278"/>
            <a:ext cx="10510887" cy="52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03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CE8108AE-2CF9-1FE5-21E4-45CBC45FF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425" y="3429000"/>
            <a:ext cx="8249149" cy="294556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A18B60F0-D291-362D-FBF0-A2763D7D7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591" y="340428"/>
            <a:ext cx="8264817" cy="287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174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307</Words>
  <Application>Microsoft Office PowerPoint</Application>
  <PresentationFormat>Widescreen</PresentationFormat>
  <Paragraphs>95</Paragraphs>
  <Slides>44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Tema di Office</vt:lpstr>
      <vt:lpstr>Database Pokemon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CATANESE</dc:creator>
  <cp:lastModifiedBy>Daniele CATANESE</cp:lastModifiedBy>
  <cp:revision>3</cp:revision>
  <dcterms:created xsi:type="dcterms:W3CDTF">2026-04-22T15:06:45Z</dcterms:created>
  <dcterms:modified xsi:type="dcterms:W3CDTF">2026-04-23T16:00:37Z</dcterms:modified>
</cp:coreProperties>
</file>